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>
        <p:scale>
          <a:sx n="106" d="100"/>
          <a:sy n="106" d="100"/>
        </p:scale>
        <p:origin x="69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MB</c:v>
                </c:pt>
              </c:strCache>
            </c:strRef>
          </c:tx>
          <c:spPr>
            <a:solidFill>
              <a:srgbClr val="94A6B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4A6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2E2-C34F-AA65-D2608FBD33D0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E2-C34F-AA65-D2608FBD33D0}"/>
              </c:ext>
            </c:extLst>
          </c:dPt>
          <c:dLbls>
            <c:dLbl>
              <c:idx val="1"/>
              <c:layout>
                <c:manualLayout>
                  <c:x val="1.054852320675099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5.0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2E2-C34F-AA65-D2608FBD33D0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B25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Target limit</c:v>
                </c:pt>
                <c:pt idx="1">
                  <c:v>OfflineFaceAuth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2E2-C34F-AA65-D2608FBD33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906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35.png"/><Relationship Id="rId5" Type="http://schemas.openxmlformats.org/officeDocument/2006/relationships/image" Target="../media/image31.png"/><Relationship Id="rId10" Type="http://schemas.openxmlformats.org/officeDocument/2006/relationships/image" Target="../media/image34.png"/><Relationship Id="rId4" Type="http://schemas.openxmlformats.org/officeDocument/2006/relationships/image" Target="../media/image10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2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5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53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669280" cy="5669280"/>
          </a:xfrm>
          <a:prstGeom prst="ellipse">
            <a:avLst/>
          </a:prstGeom>
          <a:solidFill>
            <a:srgbClr val="103253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1005840"/>
            <a:ext cx="4023360" cy="4023360"/>
          </a:xfrm>
          <a:prstGeom prst="ellipse">
            <a:avLst/>
          </a:prstGeom>
          <a:solidFill>
            <a:srgbClr val="0B2540"/>
          </a:solidFill>
          <a:ln w="1905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87000" y="-320040"/>
            <a:ext cx="2651760" cy="2651760"/>
          </a:xfrm>
          <a:prstGeom prst="ellipse">
            <a:avLst/>
          </a:prstGeom>
          <a:solidFill>
            <a:srgbClr val="103253"/>
          </a:solidFill>
          <a:ln w="19050">
            <a:solidFill>
              <a:srgbClr val="5EEAD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777240"/>
            <a:ext cx="1188720" cy="1188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325880"/>
            <a:ext cx="324612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3258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·  SUBMISSION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2057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OfflineFaceAuth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Offline Facial Recognition &amp; Liveness Detection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77240" y="3886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100% offline, AI-powered attendance system for remote zero-network field operations — built to drop straight into Datalake 3.0.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77240" y="4892040"/>
            <a:ext cx="54864" cy="54864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4892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“Zero internet. Zero compromise. Zero fraud.”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" y="5715000"/>
            <a:ext cx="1924812" cy="457200"/>
          </a:xfrm>
          <a:prstGeom prst="roundRect">
            <a:avLst>
              <a:gd name="adj" fmla="val 16000"/>
            </a:avLst>
          </a:prstGeom>
          <a:solidFill>
            <a:srgbClr val="103253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5715000"/>
            <a:ext cx="1924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0.85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930652" y="5715000"/>
            <a:ext cx="1540764" cy="457200"/>
          </a:xfrm>
          <a:prstGeom prst="roundRect">
            <a:avLst>
              <a:gd name="adj" fmla="val 16000"/>
            </a:avLst>
          </a:prstGeom>
          <a:solidFill>
            <a:srgbClr val="103253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930652" y="5715000"/>
            <a:ext cx="1540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 iOS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00016" y="5715000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03253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00016" y="571500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&lt;5.5MB Model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373368" y="5715000"/>
            <a:ext cx="1540764" cy="457200"/>
          </a:xfrm>
          <a:prstGeom prst="roundRect">
            <a:avLst>
              <a:gd name="adj" fmla="val 16000"/>
            </a:avLst>
          </a:prstGeom>
          <a:solidFill>
            <a:srgbClr val="103253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373368" y="5715000"/>
            <a:ext cx="1540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 Authentication Breaks the Moment Internet Drops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B2540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298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6766560" cy="1060704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73152" cy="1060704"/>
          </a:xfrm>
          <a:prstGeom prst="rect">
            <a:avLst/>
          </a:prstGeom>
          <a:solidFill>
            <a:srgbClr val="F973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1911096"/>
            <a:ext cx="621792" cy="621792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05740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8379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connectivity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54480" y="219456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sites lose internet for hours or days — cloud-only systems simply stop working.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2871216"/>
            <a:ext cx="6766560" cy="1060704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2920" y="2871216"/>
            <a:ext cx="73152" cy="1060704"/>
          </a:xfrm>
          <a:prstGeom prst="rect">
            <a:avLst/>
          </a:prstGeom>
          <a:solidFill>
            <a:srgbClr val="F973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13232" y="3090672"/>
            <a:ext cx="621792" cy="621792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236976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 fraud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554480" y="3374136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logs and buddy-punching let absent workers be marked present.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" y="4050792"/>
            <a:ext cx="6766560" cy="1060704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02920" y="4050792"/>
            <a:ext cx="73152" cy="1060704"/>
          </a:xfrm>
          <a:prstGeom prst="rect">
            <a:avLst/>
          </a:prstGeom>
          <a:solidFill>
            <a:srgbClr val="F973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13232" y="4270248"/>
            <a:ext cx="621792" cy="621792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416552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41970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 spoofing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554480" y="4553712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face systems are fooled by a printed photo, a screen, or a video replay.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02920" y="5230368"/>
            <a:ext cx="6766560" cy="1060704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02920" y="5230368"/>
            <a:ext cx="73152" cy="1060704"/>
          </a:xfrm>
          <a:prstGeom prst="rect">
            <a:avLst/>
          </a:prstGeom>
          <a:solidFill>
            <a:srgbClr val="F973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713232" y="5449824"/>
            <a:ext cx="621792" cy="621792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559612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5376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Heavyweight AI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1554480" y="5733288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recognition models won't run on the mid-range phones field teams actually carry.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635240" y="1691640"/>
            <a:ext cx="4069080" cy="4517136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795528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73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955280" y="23317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solution assumes a live network. In the field, that assumption fails — and so does authentication.</a:t>
            </a:r>
            <a:endParaRPr lang="en-US" sz="1450" dirty="0"/>
          </a:p>
        </p:txBody>
      </p:sp>
      <p:sp>
        <p:nvSpPr>
          <p:cNvPr id="33" name="Shape 27"/>
          <p:cNvSpPr/>
          <p:nvPr/>
        </p:nvSpPr>
        <p:spPr>
          <a:xfrm>
            <a:off x="7955280" y="3611880"/>
            <a:ext cx="3429000" cy="0"/>
          </a:xfrm>
          <a:prstGeom prst="line">
            <a:avLst/>
          </a:prstGeom>
          <a:noFill/>
          <a:ln w="1905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795528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ANSWER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7955280" y="41605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face recognition + 5-step liveness that runs entirely on-device. No internet, ever — with automatic cloud sync when it returns.</a:t>
            </a:r>
            <a:endParaRPr lang="en-US" sz="145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1320" y="5532120"/>
            <a:ext cx="868680" cy="8686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OfflineFaceAuth  ·  Hackathon 7.0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0789920" y="64556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Device. Two Modes. Always Working.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B2540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298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6446520" cy="452628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93852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048256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93852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 ZONE — works with zero network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2606040"/>
            <a:ext cx="5897880" cy="475488"/>
          </a:xfrm>
          <a:prstGeom prst="roundRect">
            <a:avLst>
              <a:gd name="adj" fmla="val 11538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268833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86968" y="2688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70662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260604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77240" y="3172968"/>
            <a:ext cx="5897880" cy="475488"/>
          </a:xfrm>
          <a:prstGeom prst="roundRect">
            <a:avLst>
              <a:gd name="adj" fmla="val 11538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86968" y="3255264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86968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27355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317296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(VisionCamera + ML Kit)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77240" y="3739896"/>
            <a:ext cx="5897880" cy="475488"/>
          </a:xfrm>
          <a:prstGeom prst="roundRect">
            <a:avLst>
              <a:gd name="adj" fmla="val 11538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86968" y="382219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886968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84048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83080" y="3739896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liveness challenge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77240" y="4306824"/>
            <a:ext cx="5897880" cy="475488"/>
          </a:xfrm>
          <a:prstGeom prst="roundRect">
            <a:avLst>
              <a:gd name="adj" fmla="val 11538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886968" y="438912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886968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4407408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783080" y="4306824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→ 192-D embedding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777240" y="4873752"/>
            <a:ext cx="5897880" cy="475488"/>
          </a:xfrm>
          <a:prstGeom prst="roundRect">
            <a:avLst>
              <a:gd name="adj" fmla="val 11538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86968" y="4956048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886968" y="4956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4974336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783080" y="4873752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Cosine-similarity match (≥ 0.60)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777240" y="5440680"/>
            <a:ext cx="5897880" cy="475488"/>
          </a:xfrm>
          <a:prstGeom prst="roundRect">
            <a:avLst>
              <a:gd name="adj" fmla="val 11538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886968" y="552297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886968" y="5522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" y="5541264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783080" y="54406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SQLite + GPS — instantly</a:t>
            </a:r>
            <a:endParaRPr lang="en-US" sz="1250" dirty="0"/>
          </a:p>
        </p:txBody>
      </p:sp>
      <p:sp>
        <p:nvSpPr>
          <p:cNvPr id="40" name="Shape 31"/>
          <p:cNvSpPr/>
          <p:nvPr/>
        </p:nvSpPr>
        <p:spPr>
          <a:xfrm>
            <a:off x="7178040" y="1691640"/>
            <a:ext cx="4526280" cy="452628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7452360" y="193852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2088" y="2075688"/>
            <a:ext cx="283464" cy="23774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092440" y="19385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— when network returns</a:t>
            </a:r>
            <a:endParaRPr lang="en-US" sz="1400" dirty="0"/>
          </a:p>
        </p:txBody>
      </p:sp>
      <p:sp>
        <p:nvSpPr>
          <p:cNvPr id="44" name="Shape 34"/>
          <p:cNvSpPr/>
          <p:nvPr/>
        </p:nvSpPr>
        <p:spPr>
          <a:xfrm>
            <a:off x="7498080" y="2734056"/>
            <a:ext cx="384048" cy="38404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98664" y="2816352"/>
            <a:ext cx="219456" cy="219456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8046720" y="26974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NetInfo detects reconnect</a:t>
            </a:r>
            <a:endParaRPr lang="en-US" sz="1250" dirty="0"/>
          </a:p>
        </p:txBody>
      </p:sp>
      <p:sp>
        <p:nvSpPr>
          <p:cNvPr id="47" name="Shape 36"/>
          <p:cNvSpPr/>
          <p:nvPr/>
        </p:nvSpPr>
        <p:spPr>
          <a:xfrm>
            <a:off x="7690104" y="3118104"/>
            <a:ext cx="0" cy="256032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7"/>
          <p:cNvSpPr/>
          <p:nvPr/>
        </p:nvSpPr>
        <p:spPr>
          <a:xfrm>
            <a:off x="7498080" y="3410712"/>
            <a:ext cx="384048" cy="38404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8664" y="3493008"/>
            <a:ext cx="219456" cy="219456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8046720" y="337413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API Gateway</a:t>
            </a:r>
            <a:endParaRPr lang="en-US" sz="1250" dirty="0"/>
          </a:p>
        </p:txBody>
      </p:sp>
      <p:sp>
        <p:nvSpPr>
          <p:cNvPr id="51" name="Shape 39"/>
          <p:cNvSpPr/>
          <p:nvPr/>
        </p:nvSpPr>
        <p:spPr>
          <a:xfrm>
            <a:off x="7690104" y="3794760"/>
            <a:ext cx="0" cy="256032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0"/>
          <p:cNvSpPr/>
          <p:nvPr/>
        </p:nvSpPr>
        <p:spPr>
          <a:xfrm>
            <a:off x="7498080" y="4087368"/>
            <a:ext cx="384048" cy="38404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98664" y="4169664"/>
            <a:ext cx="219456" cy="219456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8046720" y="40507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validates + writes</a:t>
            </a:r>
            <a:endParaRPr lang="en-US" sz="1250" dirty="0"/>
          </a:p>
        </p:txBody>
      </p:sp>
      <p:sp>
        <p:nvSpPr>
          <p:cNvPr id="55" name="Shape 42"/>
          <p:cNvSpPr/>
          <p:nvPr/>
        </p:nvSpPr>
        <p:spPr>
          <a:xfrm>
            <a:off x="7690104" y="4471416"/>
            <a:ext cx="0" cy="256032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3"/>
          <p:cNvSpPr/>
          <p:nvPr/>
        </p:nvSpPr>
        <p:spPr>
          <a:xfrm>
            <a:off x="7498080" y="4764024"/>
            <a:ext cx="384048" cy="38404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8664" y="4846320"/>
            <a:ext cx="219456" cy="219456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8046720" y="47274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(on-demand)</a:t>
            </a:r>
            <a:endParaRPr lang="en-US" sz="1250" dirty="0"/>
          </a:p>
        </p:txBody>
      </p:sp>
      <p:sp>
        <p:nvSpPr>
          <p:cNvPr id="59" name="Shape 45"/>
          <p:cNvSpPr/>
          <p:nvPr/>
        </p:nvSpPr>
        <p:spPr>
          <a:xfrm>
            <a:off x="7690104" y="5148072"/>
            <a:ext cx="0" cy="256032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46"/>
          <p:cNvSpPr/>
          <p:nvPr/>
        </p:nvSpPr>
        <p:spPr>
          <a:xfrm>
            <a:off x="7498080" y="5440680"/>
            <a:ext cx="384048" cy="38404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98664" y="5522976"/>
            <a:ext cx="219456" cy="219456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8046720" y="540410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record purged after sync</a:t>
            </a:r>
            <a:endParaRPr lang="en-US" sz="1250" dirty="0"/>
          </a:p>
        </p:txBody>
      </p:sp>
      <p:sp>
        <p:nvSpPr>
          <p:cNvPr id="63" name="Text 48"/>
          <p:cNvSpPr/>
          <p:nvPr/>
        </p:nvSpPr>
        <p:spPr>
          <a:xfrm>
            <a:off x="502920" y="63276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works offline by default. Cloud sync is an automatic, eventual bonus — never a dependency.</a:t>
            </a:r>
            <a:endParaRPr lang="en-US" sz="1250" dirty="0"/>
          </a:p>
        </p:txBody>
      </p:sp>
      <p:sp>
        <p:nvSpPr>
          <p:cNvPr id="64" name="Text 49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OfflineFaceAuth  ·  Hackathon 7.0</a:t>
            </a:r>
            <a:endParaRPr lang="en-US" sz="900" dirty="0"/>
          </a:p>
        </p:txBody>
      </p:sp>
      <p:sp>
        <p:nvSpPr>
          <p:cNvPr id="65" name="Text 50"/>
          <p:cNvSpPr/>
          <p:nvPr/>
        </p:nvSpPr>
        <p:spPr>
          <a:xfrm>
            <a:off x="10789920" y="64556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Clean, Layered React Native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B2540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298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743200" cy="324612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2743200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384048" cy="384048"/>
          </a:xfrm>
          <a:prstGeom prst="ellipse">
            <a:avLst/>
          </a:prstGeom>
          <a:solidFill>
            <a:srgbClr val="0B254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29968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24712" y="17830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LAYER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2743200"/>
            <a:ext cx="2377440" cy="475488"/>
          </a:xfrm>
          <a:prstGeom prst="roundRect">
            <a:avLst>
              <a:gd name="adj" fmla="val 9615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95528" y="27432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5800" y="3291840"/>
            <a:ext cx="2377440" cy="475488"/>
          </a:xfrm>
          <a:prstGeom prst="roundRect">
            <a:avLst>
              <a:gd name="adj" fmla="val 9615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95528" y="32918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5800" y="3840480"/>
            <a:ext cx="2377440" cy="475488"/>
          </a:xfrm>
          <a:prstGeom prst="roundRect">
            <a:avLst>
              <a:gd name="adj" fmla="val 9615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95528" y="38404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85800" y="4389120"/>
            <a:ext cx="2377440" cy="475488"/>
          </a:xfrm>
          <a:prstGeom prst="roundRect">
            <a:avLst>
              <a:gd name="adj" fmla="val 9615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95528" y="43891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337560" y="1783080"/>
            <a:ext cx="2743200" cy="324612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337560" y="1783080"/>
            <a:ext cx="2743200" cy="7132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502152" y="1947672"/>
            <a:ext cx="384048" cy="384048"/>
          </a:xfrm>
          <a:prstGeom prst="ellipse">
            <a:avLst/>
          </a:prstGeom>
          <a:solidFill>
            <a:srgbClr val="0B254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202996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959352" y="17830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LAYER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520440" y="2743200"/>
            <a:ext cx="2377440" cy="475488"/>
          </a:xfrm>
          <a:prstGeom prst="roundRect">
            <a:avLst>
              <a:gd name="adj" fmla="val 9615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630168" y="27432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AttendanceService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3520440" y="3291840"/>
            <a:ext cx="2377440" cy="475488"/>
          </a:xfrm>
          <a:prstGeom prst="roundRect">
            <a:avLst>
              <a:gd name="adj" fmla="val 9615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630168" y="32918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EnrollmentService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3520440" y="3840480"/>
            <a:ext cx="2377440" cy="475488"/>
          </a:xfrm>
          <a:prstGeom prst="roundRect">
            <a:avLst>
              <a:gd name="adj" fmla="val 9615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3630168" y="38404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SyncService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3520440" y="4389120"/>
            <a:ext cx="2377440" cy="475488"/>
          </a:xfrm>
          <a:prstGeom prst="roundRect">
            <a:avLst>
              <a:gd name="adj" fmla="val 9615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3630168" y="43891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PermissionService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172200" y="1783080"/>
            <a:ext cx="2743200" cy="324612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6172200" y="1783080"/>
            <a:ext cx="2743200" cy="713232"/>
          </a:xfrm>
          <a:prstGeom prst="rect">
            <a:avLst/>
          </a:prstGeom>
          <a:solidFill>
            <a:srgbClr val="F973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6336792" y="1947672"/>
            <a:ext cx="384048" cy="384048"/>
          </a:xfrm>
          <a:prstGeom prst="ellipse">
            <a:avLst/>
          </a:prstGeom>
          <a:solidFill>
            <a:srgbClr val="0B254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029968"/>
            <a:ext cx="219456" cy="21945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793992" y="17830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LAYER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6355080" y="2743200"/>
            <a:ext cx="2377440" cy="475488"/>
          </a:xfrm>
          <a:prstGeom prst="roundRect">
            <a:avLst>
              <a:gd name="adj" fmla="val 9615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6464808" y="27432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LivenessEngine.ts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6355080" y="3291840"/>
            <a:ext cx="2377440" cy="475488"/>
          </a:xfrm>
          <a:prstGeom prst="roundRect">
            <a:avLst>
              <a:gd name="adj" fmla="val 9615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6464808" y="32918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FaceRecognitionEngine.ts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6355080" y="3840480"/>
            <a:ext cx="2377440" cy="475488"/>
          </a:xfrm>
          <a:prstGeom prst="roundRect">
            <a:avLst>
              <a:gd name="adj" fmla="val 9615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6464808" y="38404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ModelLoader.ts</a:t>
            </a:r>
            <a:endParaRPr lang="en-US" sz="1150" dirty="0"/>
          </a:p>
        </p:txBody>
      </p:sp>
      <p:sp>
        <p:nvSpPr>
          <p:cNvPr id="43" name="Shape 38"/>
          <p:cNvSpPr/>
          <p:nvPr/>
        </p:nvSpPr>
        <p:spPr>
          <a:xfrm>
            <a:off x="9006840" y="1783080"/>
            <a:ext cx="2743200" cy="324612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9"/>
          <p:cNvSpPr/>
          <p:nvPr/>
        </p:nvSpPr>
        <p:spPr>
          <a:xfrm>
            <a:off x="9006840" y="1783080"/>
            <a:ext cx="2743200" cy="713232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9171432" y="1947672"/>
            <a:ext cx="384048" cy="384048"/>
          </a:xfrm>
          <a:prstGeom prst="ellipse">
            <a:avLst/>
          </a:prstGeom>
          <a:solidFill>
            <a:srgbClr val="0B254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3728" y="2029968"/>
            <a:ext cx="219456" cy="219456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9628632" y="17830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48" name="Shape 42"/>
          <p:cNvSpPr/>
          <p:nvPr/>
        </p:nvSpPr>
        <p:spPr>
          <a:xfrm>
            <a:off x="9189720" y="2743200"/>
            <a:ext cx="2377440" cy="475488"/>
          </a:xfrm>
          <a:prstGeom prst="roundRect">
            <a:avLst>
              <a:gd name="adj" fmla="val 9615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9299448" y="27432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(nitro)</a:t>
            </a:r>
            <a:endParaRPr lang="en-US" sz="1150" dirty="0"/>
          </a:p>
        </p:txBody>
      </p:sp>
      <p:sp>
        <p:nvSpPr>
          <p:cNvPr id="50" name="Shape 44"/>
          <p:cNvSpPr/>
          <p:nvPr/>
        </p:nvSpPr>
        <p:spPr>
          <a:xfrm>
            <a:off x="9189720" y="3291840"/>
            <a:ext cx="2377440" cy="475488"/>
          </a:xfrm>
          <a:prstGeom prst="roundRect">
            <a:avLst>
              <a:gd name="adj" fmla="val 9615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/>
          <p:nvPr/>
        </p:nvSpPr>
        <p:spPr>
          <a:xfrm>
            <a:off x="9299448" y="32918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table</a:t>
            </a:r>
            <a:endParaRPr lang="en-US" sz="1150" dirty="0"/>
          </a:p>
        </p:txBody>
      </p:sp>
      <p:sp>
        <p:nvSpPr>
          <p:cNvPr id="52" name="Shape 46"/>
          <p:cNvSpPr/>
          <p:nvPr/>
        </p:nvSpPr>
        <p:spPr>
          <a:xfrm>
            <a:off x="9189720" y="3840480"/>
            <a:ext cx="2377440" cy="475488"/>
          </a:xfrm>
          <a:prstGeom prst="roundRect">
            <a:avLst>
              <a:gd name="adj" fmla="val 9615"/>
            </a:avLst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/>
          <p:nvPr/>
        </p:nvSpPr>
        <p:spPr>
          <a:xfrm>
            <a:off x="9299448" y="38404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+ GPS + syncStatus</a:t>
            </a:r>
            <a:endParaRPr lang="en-US" sz="1150" dirty="0"/>
          </a:p>
        </p:txBody>
      </p:sp>
      <p:sp>
        <p:nvSpPr>
          <p:cNvPr id="54" name="Shape 48"/>
          <p:cNvSpPr/>
          <p:nvPr/>
        </p:nvSpPr>
        <p:spPr>
          <a:xfrm>
            <a:off x="502920" y="5212080"/>
            <a:ext cx="11201400" cy="86868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49"/>
          <p:cNvSpPr/>
          <p:nvPr/>
        </p:nvSpPr>
        <p:spPr>
          <a:xfrm>
            <a:off x="731520" y="54132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5522976"/>
            <a:ext cx="256032" cy="237744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1371600" y="52120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LAYER   </a:t>
            </a: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VisionCamera v5  ·  ML Kit Face Detector  ·  react-native-fast-tflite (CPU runtime)  ·  GPS  ·  NetInfo</a:t>
            </a:r>
            <a:endParaRPr lang="en-US" sz="1300" dirty="0"/>
          </a:p>
        </p:txBody>
      </p:sp>
      <p:sp>
        <p:nvSpPr>
          <p:cNvPr id="58" name="Text 51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OfflineFaceAuth  ·  Hackathon 7.0</a:t>
            </a:r>
            <a:endParaRPr lang="en-US" sz="900" dirty="0"/>
          </a:p>
        </p:txBody>
      </p:sp>
      <p:sp>
        <p:nvSpPr>
          <p:cNvPr id="59" name="Text 52"/>
          <p:cNvSpPr/>
          <p:nvPr/>
        </p:nvSpPr>
        <p:spPr>
          <a:xfrm>
            <a:off x="10789920" y="64556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 · 1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Liveness Detection — With No Second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B2540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298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212848" cy="228600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2212848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7512" y="2084832"/>
            <a:ext cx="457200" cy="457200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536" y="2103120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7512" y="26974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 Straight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7512" y="315468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±10° yaw, ±15° pitch · 20 stable frames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25496" y="1783080"/>
            <a:ext cx="2212848" cy="228600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825496" y="1783080"/>
            <a:ext cx="2212848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990088" y="2084832"/>
            <a:ext cx="457200" cy="457200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990088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2103120"/>
            <a:ext cx="420624" cy="4206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90088" y="26974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Blink Twice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2990088" y="315468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eye-open probability &lt; 0.3 · 2 blink events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148072" y="1783080"/>
            <a:ext cx="2212848" cy="228600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148072" y="1783080"/>
            <a:ext cx="2212848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312664" y="2084832"/>
            <a:ext cx="457200" cy="457200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312664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103120"/>
            <a:ext cx="420624" cy="42062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12664" y="26974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Head Left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5312664" y="315468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angle &lt; −15°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470648" y="1783080"/>
            <a:ext cx="2212848" cy="228600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7470648" y="1783080"/>
            <a:ext cx="2212848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7635240" y="2084832"/>
            <a:ext cx="457200" cy="457200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76352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264" y="2103120"/>
            <a:ext cx="420624" cy="42062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635240" y="26974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Head Right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7635240" y="315468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angle &gt; +15°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9793224" y="1783080"/>
            <a:ext cx="2212848" cy="228600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9793224" y="1783080"/>
            <a:ext cx="2212848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9957816" y="2084832"/>
            <a:ext cx="457200" cy="457200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9957816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0" y="2103120"/>
            <a:ext cx="420624" cy="42062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957816" y="26974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Smile</a:t>
            </a:r>
            <a:endParaRPr lang="en-US" sz="1450" dirty="0"/>
          </a:p>
        </p:txBody>
      </p:sp>
      <p:sp>
        <p:nvSpPr>
          <p:cNvPr id="40" name="Text 33"/>
          <p:cNvSpPr/>
          <p:nvPr/>
        </p:nvSpPr>
        <p:spPr>
          <a:xfrm>
            <a:off x="9957816" y="315468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smiling probability &gt; 0.7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502920" y="4297680"/>
            <a:ext cx="11201400" cy="192024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777240" y="44988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IS THE INNOVATION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5047488"/>
            <a:ext cx="237744" cy="23774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325880" y="491947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extra ML model</a:t>
            </a:r>
            <a:endParaRPr lang="en-US" sz="1300" dirty="0"/>
          </a:p>
        </p:txBody>
      </p:sp>
      <p:sp>
        <p:nvSpPr>
          <p:cNvPr id="46" name="Text 38"/>
          <p:cNvSpPr/>
          <p:nvPr/>
        </p:nvSpPr>
        <p:spPr>
          <a:xfrm>
            <a:off x="777240" y="5440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uses the geometric &amp; probabilistic landmarks the detector already returns — nothing added to the package.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4407408" y="49377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136" y="5047488"/>
            <a:ext cx="237744" cy="237744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4956048" y="491947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compute cost</a:t>
            </a:r>
            <a:endParaRPr lang="en-US" sz="1300" dirty="0"/>
          </a:p>
        </p:txBody>
      </p:sp>
      <p:sp>
        <p:nvSpPr>
          <p:cNvPr id="50" name="Text 41"/>
          <p:cNvSpPr/>
          <p:nvPr/>
        </p:nvSpPr>
        <p:spPr>
          <a:xfrm>
            <a:off x="4407408" y="5440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algorithmic state machine — runs at 30+ FPS alongside detection with no extra inference.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8037576" y="49377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7304" y="5047488"/>
            <a:ext cx="237744" cy="237744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8586216" y="491947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Spoof-proof</a:t>
            </a:r>
            <a:endParaRPr lang="en-US" sz="1300" dirty="0"/>
          </a:p>
        </p:txBody>
      </p:sp>
      <p:sp>
        <p:nvSpPr>
          <p:cNvPr id="54" name="Text 44"/>
          <p:cNvSpPr/>
          <p:nvPr/>
        </p:nvSpPr>
        <p:spPr>
          <a:xfrm>
            <a:off x="8037576" y="5440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photo, video, or printed mask cannot satisfy a randomised live challenge sequence.</a:t>
            </a:r>
            <a:endParaRPr lang="en-US" sz="1100" dirty="0"/>
          </a:p>
        </p:txBody>
      </p:sp>
      <p:sp>
        <p:nvSpPr>
          <p:cNvPr id="55" name="Text 45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OfflineFaceAuth  ·  Hackathon 7.0</a:t>
            </a:r>
            <a:endParaRPr lang="en-US" sz="900" dirty="0"/>
          </a:p>
        </p:txBody>
      </p:sp>
      <p:sp>
        <p:nvSpPr>
          <p:cNvPr id="56" name="Text 46"/>
          <p:cNvSpPr/>
          <p:nvPr/>
        </p:nvSpPr>
        <p:spPr>
          <a:xfrm>
            <a:off x="10789920" y="64556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 · 2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MobileFaceNet — 10× Smaller Than the Limit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B2540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298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657600" cy="443484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574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4A6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SIZE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Trebuchet MS" pitchFamily="34" charset="0"/>
              </a:rPr>
              <a:t>5.0</a:t>
            </a:r>
            <a:endParaRPr lang="en-US" sz="8800" dirty="0"/>
          </a:p>
        </p:txBody>
      </p:sp>
      <p:sp>
        <p:nvSpPr>
          <p:cNvPr id="10" name="Text 7"/>
          <p:cNvSpPr/>
          <p:nvPr/>
        </p:nvSpPr>
        <p:spPr>
          <a:xfrm>
            <a:off x="868680" y="425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MB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892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was ≤ 20 MB.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ship at under one-tenth of it.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0" y="1783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Footprint vs. hackathon target (MB)</a:t>
            </a:r>
            <a:endParaRPr lang="en-US" sz="1300" dirty="0"/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2296572474"/>
              </p:ext>
            </p:extLst>
          </p:nvPr>
        </p:nvGraphicFramePr>
        <p:xfrm>
          <a:off x="4480560" y="2148840"/>
          <a:ext cx="72237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4480560" y="4160520"/>
            <a:ext cx="2286000" cy="91440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480560" y="4160520"/>
            <a:ext cx="64008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681728" y="430682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TFLite (quantized)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81728" y="4709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885432" y="4160520"/>
            <a:ext cx="2286000" cy="91440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885432" y="4160520"/>
            <a:ext cx="64008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086600" y="430682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192-D float32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086600" y="4709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9290304" y="4160520"/>
            <a:ext cx="2286000" cy="91440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9290304" y="4160520"/>
            <a:ext cx="64008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9491472" y="430682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200 ms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9491472" y="4709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480560" y="5212080"/>
            <a:ext cx="2286000" cy="91440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4480560" y="5212080"/>
            <a:ext cx="64008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681728" y="535838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 only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4681728" y="5760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885432" y="5212080"/>
            <a:ext cx="2286000" cy="91440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885432" y="5212080"/>
            <a:ext cx="64008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7086600" y="535838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Cosine ≥ 0.60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7086600" y="5760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9290304" y="5212080"/>
            <a:ext cx="2286000" cy="91440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9290304" y="5212080"/>
            <a:ext cx="64008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9491472" y="535838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GPU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9491472" y="5760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OfflineFaceAuth  ·  Hackathon 7.0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0789920" y="64556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 · 3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Cosine Similarity — Fast, Robust Matching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B2540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298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532120" cy="233172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MATH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 = </a:t>
            </a:r>
            <a:r>
              <a:rPr lang="en-US" sz="2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· B)</a:t>
            </a:r>
            <a:r>
              <a:rPr lang="en-US" sz="2200" b="1" dirty="0">
                <a:solidFill>
                  <a:srgbClr val="94A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2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(|A| × |B|)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3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enrolled employee embedding (192-D)
</a:t>
            </a: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3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live captured embedding (192-D)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 different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0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 identical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4645152"/>
            <a:ext cx="525780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4645152"/>
            <a:ext cx="3154680" cy="3657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30752" y="4572000"/>
            <a:ext cx="512064" cy="512064"/>
          </a:xfrm>
          <a:prstGeom prst="ellipse">
            <a:avLst/>
          </a:prstGeom>
          <a:solidFill>
            <a:srgbClr val="0B254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66160" y="5074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4406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THRESHOLD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55080" y="1783080"/>
            <a:ext cx="5349240" cy="137160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83680" y="21945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2322576"/>
            <a:ext cx="292608" cy="29260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1520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Lighting-invariant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315200" y="238658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vector angle, not magnitude — harsh sun, shadow or low light don't break it.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355080" y="3264408"/>
            <a:ext cx="5349240" cy="137160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583680" y="367588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3803904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315200" y="34472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Indian demographics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7315200" y="386791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matching stays reliable across diverse skin tones and facial features.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355080" y="4745736"/>
            <a:ext cx="5349240" cy="137160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6583680" y="5157216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5285232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315200" y="492861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&amp; fast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7315200" y="534924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O(n) scan — stays sub-second even with 1000+ enrolled employees.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OfflineFaceAuth  ·  Hackathon 7.0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789920" y="64556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FEASIBILITY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Drop-In Module for Datalake 3.0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B2540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298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86400" cy="443484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SELF-CONTAINED FOLDERS — COPY &amp; 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50545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596896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468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Datalake 3.0 App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325880" y="3108960"/>
            <a:ext cx="384048" cy="384048"/>
          </a:xfrm>
          <a:prstGeom prst="ellipse">
            <a:avLst/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464" y="320040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30723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/src/ai/  — engines, self-contained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1325880" y="3712464"/>
            <a:ext cx="384048" cy="384048"/>
          </a:xfrm>
          <a:prstGeom prst="ellipse">
            <a:avLst/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6464" y="380390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36758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/src/services/  — business logic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1325880" y="4315968"/>
            <a:ext cx="384048" cy="384048"/>
          </a:xfrm>
          <a:prstGeom prst="ellipse">
            <a:avLst/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464" y="440740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2793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/src/database/  — local persistence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1325880" y="4919472"/>
            <a:ext cx="384048" cy="384048"/>
          </a:xfrm>
          <a:prstGeom prst="ellipse">
            <a:avLst/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6464" y="5010912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828800" y="48828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/src/screens/  — plug into any navigator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1325880" y="5522976"/>
            <a:ext cx="384048" cy="384048"/>
          </a:xfrm>
          <a:prstGeom prst="ellipse">
            <a:avLst/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6464" y="5614416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828800" y="5486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/models/mobilefacenet.tflite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6355080" y="178308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takes four steps: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6355080" y="2331720"/>
            <a:ext cx="5349240" cy="896112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0"/>
          <p:cNvSpPr/>
          <p:nvPr/>
        </p:nvSpPr>
        <p:spPr>
          <a:xfrm>
            <a:off x="6537960" y="255117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1"/>
          <p:cNvSpPr/>
          <p:nvPr/>
        </p:nvSpPr>
        <p:spPr>
          <a:xfrm>
            <a:off x="653796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717804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5 npm packages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7178040" y="27889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MIT / Apache-2.0 — no paid SDKs, no native config headaches.</a:t>
            </a:r>
            <a:endParaRPr lang="en-US" sz="11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01400" y="2578608"/>
            <a:ext cx="384048" cy="384048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355080" y="3337560"/>
            <a:ext cx="5349240" cy="896112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5"/>
          <p:cNvSpPr/>
          <p:nvPr/>
        </p:nvSpPr>
        <p:spPr>
          <a:xfrm>
            <a:off x="6537960" y="355701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6"/>
          <p:cNvSpPr/>
          <p:nvPr/>
        </p:nvSpPr>
        <p:spPr>
          <a:xfrm>
            <a:off x="653796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7178040" y="3456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 in 3 folders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7178040" y="37947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/src/ai, /src/services, /src/database wholesale.</a:t>
            </a:r>
            <a:endParaRPr lang="en-US" sz="11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01400" y="3584448"/>
            <a:ext cx="384048" cy="384048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6355080" y="4343400"/>
            <a:ext cx="5349240" cy="896112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0"/>
          <p:cNvSpPr/>
          <p:nvPr/>
        </p:nvSpPr>
        <p:spPr>
          <a:xfrm>
            <a:off x="6537960" y="456285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1"/>
          <p:cNvSpPr/>
          <p:nvPr/>
        </p:nvSpPr>
        <p:spPr>
          <a:xfrm>
            <a:off x="653796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42" name="Text 32"/>
          <p:cNvSpPr/>
          <p:nvPr/>
        </p:nvSpPr>
        <p:spPr>
          <a:xfrm>
            <a:off x="7178040" y="4462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 screens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7178040" y="48006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Enrollment &amp; Attendance screens to your existing navigator.</a:t>
            </a:r>
            <a:endParaRPr lang="en-US" sz="11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1400" y="4590288"/>
            <a:ext cx="384048" cy="384048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6355080" y="5349240"/>
            <a:ext cx="5349240" cy="896112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35"/>
          <p:cNvSpPr/>
          <p:nvPr/>
        </p:nvSpPr>
        <p:spPr>
          <a:xfrm>
            <a:off x="6537960" y="556869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6"/>
          <p:cNvSpPr/>
          <p:nvPr/>
        </p:nvSpPr>
        <p:spPr>
          <a:xfrm>
            <a:off x="6537960" y="5568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48" name="Text 37"/>
          <p:cNvSpPr/>
          <p:nvPr/>
        </p:nvSpPr>
        <p:spPr>
          <a:xfrm>
            <a:off x="7178040" y="5468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Bundle the model</a:t>
            </a:r>
            <a:endParaRPr lang="en-US" sz="1400" dirty="0"/>
          </a:p>
        </p:txBody>
      </p:sp>
      <p:sp>
        <p:nvSpPr>
          <p:cNvPr id="49" name="Text 38"/>
          <p:cNvSpPr/>
          <p:nvPr/>
        </p:nvSpPr>
        <p:spPr>
          <a:xfrm>
            <a:off x="7178040" y="58064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1.9 MB .tflite in assets — done.</a:t>
            </a:r>
            <a:endParaRPr lang="en-US" sz="11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01400" y="5596128"/>
            <a:ext cx="384048" cy="384048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OfflineFaceAuth  ·  Hackathon 7.0</a:t>
            </a:r>
            <a:endParaRPr lang="en-US" sz="900" dirty="0"/>
          </a:p>
        </p:txBody>
      </p:sp>
      <p:sp>
        <p:nvSpPr>
          <p:cNvPr id="52" name="Text 40"/>
          <p:cNvSpPr/>
          <p:nvPr/>
        </p:nvSpPr>
        <p:spPr>
          <a:xfrm>
            <a:off x="10789920" y="64556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FEASIBILITY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Benchmarks vs.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B2540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298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7040880" cy="548640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79476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4A6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3212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ACHIEVED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7040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94760" y="237744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 MB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237744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MB</a:t>
            </a:r>
            <a:endParaRPr lang="en-US" sz="12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542032"/>
            <a:ext cx="274320" cy="2743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02920" y="3017520"/>
            <a:ext cx="7040880" cy="603504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" y="30175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(embed → match)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794760" y="301752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532120" y="301752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ms</a:t>
            </a:r>
            <a:endParaRPr lang="en-US" sz="12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182112"/>
            <a:ext cx="274320" cy="2743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02920" y="3657600"/>
            <a:ext cx="7040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85800" y="36576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latency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794760" y="365760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532120" y="365760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ms (30 FPS)</a:t>
            </a:r>
            <a:endParaRPr lang="en-US" sz="12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822192"/>
            <a:ext cx="274320" cy="27432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02920" y="4297680"/>
            <a:ext cx="7040880" cy="603504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85800" y="42976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usage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3794760" y="429768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GB device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532120" y="429768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150 MB</a:t>
            </a:r>
            <a:endParaRPr lang="en-US" sz="12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462272"/>
            <a:ext cx="274320" cy="27432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502920" y="4937760"/>
            <a:ext cx="7040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685800" y="493776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Android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3794760" y="493776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8.0+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532120" y="493776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8.0+</a:t>
            </a:r>
            <a:endParaRPr lang="en-US" sz="125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5102352"/>
            <a:ext cx="274320" cy="27432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502920" y="5577840"/>
            <a:ext cx="7040880" cy="603504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685800" y="557784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iOS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3794760" y="557784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5532120" y="557784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125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5742432"/>
            <a:ext cx="274320" cy="274320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7772400" y="1783080"/>
            <a:ext cx="3931920" cy="233172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011680"/>
            <a:ext cx="548640" cy="54864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04672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94A6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RECOGNITION TIME</a:t>
            </a:r>
            <a:endParaRPr lang="en-US" sz="1150" dirty="0"/>
          </a:p>
        </p:txBody>
      </p:sp>
      <p:sp>
        <p:nvSpPr>
          <p:cNvPr id="43" name="Text 34"/>
          <p:cNvSpPr/>
          <p:nvPr/>
        </p:nvSpPr>
        <p:spPr>
          <a:xfrm>
            <a:off x="8001000" y="2926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200ms</a:t>
            </a:r>
            <a:endParaRPr lang="en-US" sz="5000" dirty="0"/>
          </a:p>
        </p:txBody>
      </p:sp>
      <p:sp>
        <p:nvSpPr>
          <p:cNvPr id="44" name="Text 35"/>
          <p:cNvSpPr/>
          <p:nvPr/>
        </p:nvSpPr>
        <p:spPr>
          <a:xfrm>
            <a:off x="8046720" y="3749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faster than the &lt; 1 s requirement.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7772400" y="4297680"/>
            <a:ext cx="3931920" cy="192024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37"/>
          <p:cNvSpPr/>
          <p:nvPr/>
        </p:nvSpPr>
        <p:spPr>
          <a:xfrm>
            <a:off x="8001000" y="4526280"/>
            <a:ext cx="457200" cy="457200"/>
          </a:xfrm>
          <a:prstGeom prst="ellipse">
            <a:avLst/>
          </a:prstGeom>
          <a:solidFill>
            <a:srgbClr val="F9736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728" y="4636008"/>
            <a:ext cx="237744" cy="237744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8595360" y="4526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 full flow takes ~5–7 s</a:t>
            </a:r>
            <a:endParaRPr lang="en-US" sz="1300" dirty="0"/>
          </a:p>
        </p:txBody>
      </p:sp>
      <p:sp>
        <p:nvSpPr>
          <p:cNvPr id="49" name="Text 39"/>
          <p:cNvSpPr/>
          <p:nvPr/>
        </p:nvSpPr>
        <p:spPr>
          <a:xfrm>
            <a:off x="8001000" y="502920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itself is sub-200 ms. The extra seconds are the deliberate 5-step liveness challenge — the anti-spoofing feature that makes the system trustworthy. Security by design, not latency.</a:t>
            </a:r>
            <a:endParaRPr lang="en-US" sz="1150" dirty="0"/>
          </a:p>
        </p:txBody>
      </p:sp>
      <p:sp>
        <p:nvSpPr>
          <p:cNvPr id="50" name="Text 40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OfflineFaceAuth  ·  Hackathon 7.0</a:t>
            </a:r>
            <a:endParaRPr lang="en-US" sz="900" dirty="0"/>
          </a:p>
        </p:txBody>
      </p:sp>
      <p:sp>
        <p:nvSpPr>
          <p:cNvPr id="51" name="Text 41"/>
          <p:cNvSpPr/>
          <p:nvPr/>
        </p:nvSpPr>
        <p:spPr>
          <a:xfrm>
            <a:off x="10789920" y="64556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 · SUSTAINABILITY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Offline-First Sync That Never Loses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B2540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298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975104"/>
            <a:ext cx="365760" cy="36576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5740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8288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 recognised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280160" y="2487168"/>
            <a:ext cx="0" cy="164592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265176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0B2540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8368" y="2798064"/>
            <a:ext cx="365760" cy="36576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88036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26517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Saved to SQLite (syncStatus = 0)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1280160" y="3310128"/>
            <a:ext cx="0" cy="164592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02920" y="347472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0B2540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58368" y="3621024"/>
            <a:ext cx="365760" cy="36576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703320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34747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syncWithRetry() triggered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1280160" y="4133088"/>
            <a:ext cx="0" cy="164592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02920" y="429768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BBF24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02920" y="429768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Internet available?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02920" y="5166360"/>
            <a:ext cx="2423160" cy="141732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02920" y="5166360"/>
            <a:ext cx="242316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502920" y="5166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58368" y="564184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→ API Gateway → Lambda → DynamoDB. On 200 OK, mark synced and purge the local record.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3108960" y="5166360"/>
            <a:ext cx="2423160" cy="141732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3108960" y="5166360"/>
            <a:ext cx="2423160" cy="411480"/>
          </a:xfrm>
          <a:prstGeom prst="rect">
            <a:avLst/>
          </a:prstGeom>
          <a:solidFill>
            <a:srgbClr val="F973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3108960" y="5166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3264408" y="564184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Stop. Data stays safe in SQLite. NetInfo listener waits and auto-retries the moment network returns.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943600" y="1783080"/>
            <a:ext cx="5760720" cy="443484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217920" y="2011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SYNC TRIGGERS — RETRY UNTIL SUCCESS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6217920" y="2468880"/>
            <a:ext cx="5212080" cy="960120"/>
          </a:xfrm>
          <a:prstGeom prst="rect">
            <a:avLst/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6400800" y="27432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2862072"/>
            <a:ext cx="265176" cy="26517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086600" y="25877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app launch</a:t>
            </a:r>
            <a:endParaRPr lang="en-US" sz="1450" dirty="0"/>
          </a:p>
        </p:txBody>
      </p:sp>
      <p:sp>
        <p:nvSpPr>
          <p:cNvPr id="37" name="Text 31"/>
          <p:cNvSpPr/>
          <p:nvPr/>
        </p:nvSpPr>
        <p:spPr>
          <a:xfrm>
            <a:off x="7086600" y="29718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any record left unsynced from a previous session.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6217920" y="3611880"/>
            <a:ext cx="5212080" cy="960120"/>
          </a:xfrm>
          <a:prstGeom prst="rect">
            <a:avLst/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6400800" y="38862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4005072"/>
            <a:ext cx="265176" cy="26517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086600" y="37307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reconnect</a:t>
            </a:r>
            <a:endParaRPr lang="en-US" sz="1450" dirty="0"/>
          </a:p>
        </p:txBody>
      </p:sp>
      <p:sp>
        <p:nvSpPr>
          <p:cNvPr id="42" name="Text 35"/>
          <p:cNvSpPr/>
          <p:nvPr/>
        </p:nvSpPr>
        <p:spPr>
          <a:xfrm>
            <a:off x="7086600" y="41148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NetInfo listener fires the instant connectivity is restored.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6217920" y="4754880"/>
            <a:ext cx="5212080" cy="960120"/>
          </a:xfrm>
          <a:prstGeom prst="rect">
            <a:avLst/>
          </a:prstGeom>
          <a:solidFill>
            <a:srgbClr val="1032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6400800" y="50292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5148072"/>
            <a:ext cx="265176" cy="26517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7086600" y="48737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every save</a:t>
            </a:r>
            <a:endParaRPr lang="en-US" sz="1450" dirty="0"/>
          </a:p>
        </p:txBody>
      </p:sp>
      <p:sp>
        <p:nvSpPr>
          <p:cNvPr id="47" name="Text 39"/>
          <p:cNvSpPr/>
          <p:nvPr/>
        </p:nvSpPr>
        <p:spPr>
          <a:xfrm>
            <a:off x="7086600" y="52578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attendance record attempts to sync immediately.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6217920" y="581558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sync waits 2 minutes, then retries — so a record is never lost and never double-counted.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OfflineFaceAuth  ·  Hackathon 7.0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10789920" y="64556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Serverless Cloud — Scales Without Configuration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B2540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298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743200" cy="2743200"/>
          </a:xfrm>
          <a:prstGeom prst="rect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22402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404872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37490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POST /attendance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x-api-key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27832" y="3154680"/>
            <a:ext cx="292608" cy="292608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64992" y="1920240"/>
            <a:ext cx="2743200" cy="274320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25112" y="224028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2404872"/>
            <a:ext cx="493776" cy="4937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02152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Gateway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47872" y="37490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 · single POST route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prod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9904" y="3154680"/>
            <a:ext cx="292608" cy="292608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227064" y="1920240"/>
            <a:ext cx="2743200" cy="274320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187184" y="224028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76" y="2404872"/>
            <a:ext cx="493776" cy="4937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64224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Lambda (Node 22)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09944" y="37490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API key · strips null fields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syncStatus = 1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951976" y="3154680"/>
            <a:ext cx="292608" cy="292608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089136" y="1920240"/>
            <a:ext cx="2743200" cy="274320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10049256" y="224028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3848" y="2404872"/>
            <a:ext cx="493776" cy="49377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26296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DynamoDB (on-demand)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272016" y="37490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AttendanceTable · PK: id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employee, confidence, GPS, timestamp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02920" y="5029200"/>
            <a:ext cx="11201400" cy="118872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777240" y="5212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On-demand</a:t>
            </a:r>
            <a:endParaRPr lang="en-US" sz="2100" dirty="0"/>
          </a:p>
        </p:txBody>
      </p:sp>
      <p:sp>
        <p:nvSpPr>
          <p:cNvPr id="31" name="Text 25"/>
          <p:cNvSpPr/>
          <p:nvPr/>
        </p:nvSpPr>
        <p:spPr>
          <a:xfrm>
            <a:off x="777240" y="565099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capacity — no provisioning, pay per request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389120" y="5257800"/>
            <a:ext cx="0" cy="868680"/>
          </a:xfrm>
          <a:prstGeom prst="line">
            <a:avLst/>
          </a:prstGeom>
          <a:noFill/>
          <a:ln w="19050">
            <a:solidFill>
              <a:srgbClr val="D4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4526280" y="5212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Stateless</a:t>
            </a:r>
            <a:endParaRPr lang="en-US" sz="2100" dirty="0"/>
          </a:p>
        </p:txBody>
      </p:sp>
      <p:sp>
        <p:nvSpPr>
          <p:cNvPr id="34" name="Text 28"/>
          <p:cNvSpPr/>
          <p:nvPr/>
        </p:nvSpPr>
        <p:spPr>
          <a:xfrm>
            <a:off x="4526280" y="565099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scales to thousands of concurrent devices automatically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8138160" y="5257800"/>
            <a:ext cx="0" cy="868680"/>
          </a:xfrm>
          <a:prstGeom prst="line">
            <a:avLst/>
          </a:prstGeom>
          <a:noFill/>
          <a:ln w="19050">
            <a:solidFill>
              <a:srgbClr val="D4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8275320" y="5212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x-api-key</a:t>
            </a:r>
            <a:endParaRPr lang="en-US" sz="2100" dirty="0"/>
          </a:p>
        </p:txBody>
      </p:sp>
      <p:sp>
        <p:nvSpPr>
          <p:cNvPr id="37" name="Text 31"/>
          <p:cNvSpPr/>
          <p:nvPr/>
        </p:nvSpPr>
        <p:spPr>
          <a:xfrm>
            <a:off x="8275320" y="565099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authenticated at the gateway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OfflineFaceAuth  ·  Hackathon 7.0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0789920" y="64556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Defence in Depth — Six Security 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B2540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298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630168" cy="201168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121408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30428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" y="297180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Liveness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95528" y="336499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challenge blocks photo, video &amp; mask spoofing.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88536" y="1828800"/>
            <a:ext cx="3630168" cy="201168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62856" y="2121408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230428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1144" y="297180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 only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81144" y="336499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float vectors, never images — a face cannot be reconstructed.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74152" y="1828800"/>
            <a:ext cx="3630168" cy="201168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348472" y="2121408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230428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297180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auth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66760" y="336499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cloud request carries an x-api-key header.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02920" y="4069080"/>
            <a:ext cx="3630168" cy="201168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77240" y="4361688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544568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95528" y="521208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 only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95528" y="560527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secured; iOS enforces NSAppTransportSecurity.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288536" y="4069080"/>
            <a:ext cx="3630168" cy="201168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562856" y="4361688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4544568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81144" y="521208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Sandboxed DB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4581144" y="560527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SQLite is isolated from other apps.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074152" y="4069080"/>
            <a:ext cx="3630168" cy="2011680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8348472" y="4361688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1352" y="4544568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366760" y="521208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Least privilege</a:t>
            </a:r>
            <a:endParaRPr lang="en-US" sz="1700" dirty="0"/>
          </a:p>
        </p:txBody>
      </p:sp>
      <p:sp>
        <p:nvSpPr>
          <p:cNvPr id="35" name="Text 27"/>
          <p:cNvSpPr/>
          <p:nvPr/>
        </p:nvSpPr>
        <p:spPr>
          <a:xfrm>
            <a:off x="8366760" y="560527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IAM role holds only the permissions it needs.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OfflineFaceAuth  ·  Hackathon 7.0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789920" y="64556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IT LIVE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Walkthrough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B2540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298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630168" cy="201168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630168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8952" y="2148840"/>
            <a:ext cx="685800" cy="685800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219456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292608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7240" y="3328416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stats: enrolled, today's attendance, pending sync, last sync.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88536" y="1828800"/>
            <a:ext cx="3630168" cy="201168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288536" y="1828800"/>
            <a:ext cx="3630168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44568" y="2148840"/>
            <a:ext cx="685800" cy="685800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44568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219456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62856" y="292608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Enrollment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562856" y="3328416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 → 5-step liveness → capture → embedding stored in SQLite.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074152" y="1828800"/>
            <a:ext cx="3630168" cy="201168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074152" y="1828800"/>
            <a:ext cx="3630168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330184" y="2148840"/>
            <a:ext cx="685800" cy="685800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330184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0" y="219456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48472" y="292608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Attendance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8348472" y="3328416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liveness → capture → match → GPS recorded → saved.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02920" y="4069080"/>
            <a:ext cx="3630168" cy="201168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02920" y="4069080"/>
            <a:ext cx="3630168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758952" y="4389120"/>
            <a:ext cx="685800" cy="685800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758952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4408" y="4434840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77240" y="516636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History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777240" y="5568696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with name, timestamp and confidence %.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4288536" y="4069080"/>
            <a:ext cx="3630168" cy="201168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4288536" y="4069080"/>
            <a:ext cx="3630168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4544568" y="4389120"/>
            <a:ext cx="685800" cy="685800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4544568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0024" y="4434840"/>
            <a:ext cx="502920" cy="50292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562856" y="516636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 Mode</a:t>
            </a:r>
            <a:endParaRPr lang="en-US" sz="1700" dirty="0"/>
          </a:p>
        </p:txBody>
      </p:sp>
      <p:sp>
        <p:nvSpPr>
          <p:cNvPr id="40" name="Text 33"/>
          <p:cNvSpPr/>
          <p:nvPr/>
        </p:nvSpPr>
        <p:spPr>
          <a:xfrm>
            <a:off x="4562856" y="5568696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off → mark attendance → data persists locally, no errors.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8074152" y="4069080"/>
            <a:ext cx="3630168" cy="2011680"/>
          </a:xfrm>
          <a:prstGeom prst="rect">
            <a:avLst/>
          </a:prstGeom>
          <a:solidFill>
            <a:srgbClr val="F4F7FA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8074152" y="4069080"/>
            <a:ext cx="3630168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8330184" y="4389120"/>
            <a:ext cx="685800" cy="685800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/>
          <p:nvPr/>
        </p:nvSpPr>
        <p:spPr>
          <a:xfrm>
            <a:off x="8330184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5640" y="4434840"/>
            <a:ext cx="502920" cy="5029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348472" y="516636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Sync</a:t>
            </a:r>
            <a:endParaRPr lang="en-US" sz="1700" dirty="0"/>
          </a:p>
        </p:txBody>
      </p:sp>
      <p:sp>
        <p:nvSpPr>
          <p:cNvPr id="47" name="Text 39"/>
          <p:cNvSpPr/>
          <p:nvPr/>
        </p:nvSpPr>
        <p:spPr>
          <a:xfrm>
            <a:off x="8348472" y="5568696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on → pending count drops to 0 → DynamoDB updated live.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OfflineFaceAuth  ·  Hackathon 7.0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10789920" y="64556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Open-Source 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B2540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298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532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64008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4088" y="18288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23160" y="18288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0.85 (New Arch)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20640" y="1947672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19476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505456"/>
            <a:ext cx="5532120" cy="566928"/>
          </a:xfrm>
          <a:prstGeom prst="rect">
            <a:avLst/>
          </a:prstGeom>
          <a:solidFill>
            <a:srgbClr val="F4F7FA"/>
          </a:solidFill>
          <a:ln w="12700">
            <a:solidFill>
              <a:srgbClr val="E6EB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505456"/>
            <a:ext cx="64008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" y="25054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23160" y="25054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react-native-vision-camera v5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20640" y="2624328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0" y="26243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182112"/>
            <a:ext cx="5532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3182112"/>
            <a:ext cx="64008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4088" y="31821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423160" y="31821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vision-camera-face-detector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120640" y="3300984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0640" y="33009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3858768"/>
            <a:ext cx="5532120" cy="566928"/>
          </a:xfrm>
          <a:prstGeom prst="rect">
            <a:avLst/>
          </a:prstGeom>
          <a:solidFill>
            <a:srgbClr val="F4F7FA"/>
          </a:solidFill>
          <a:ln w="12700">
            <a:solidFill>
              <a:srgbClr val="E6EB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3858768"/>
            <a:ext cx="64008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4088" y="38587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423160" y="38587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react-native-fast-tflite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120640" y="397764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20640" y="39776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4535424"/>
            <a:ext cx="5532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2920" y="4535424"/>
            <a:ext cx="64008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4088" y="453542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423160" y="45354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(TFLite)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120640" y="4654296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20640" y="465429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1828800"/>
            <a:ext cx="5532120" cy="566928"/>
          </a:xfrm>
          <a:prstGeom prst="rect">
            <a:avLst/>
          </a:prstGeom>
          <a:solidFill>
            <a:srgbClr val="F4F7FA"/>
          </a:solidFill>
          <a:ln w="12700">
            <a:solidFill>
              <a:srgbClr val="E6EB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26480" y="1828800"/>
            <a:ext cx="64008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27648" y="18288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DB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046720" y="18288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react-native-nitro-sqlite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0744200" y="1947672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744200" y="19476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26480" y="2505456"/>
            <a:ext cx="5532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26480" y="2505456"/>
            <a:ext cx="64008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27648" y="25054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046720" y="25054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@react-native-community/geolocation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0744200" y="2624328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744200" y="26243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26480" y="3182112"/>
            <a:ext cx="5532120" cy="566928"/>
          </a:xfrm>
          <a:prstGeom prst="rect">
            <a:avLst/>
          </a:prstGeom>
          <a:solidFill>
            <a:srgbClr val="F4F7FA"/>
          </a:solidFill>
          <a:ln w="12700">
            <a:solidFill>
              <a:srgbClr val="E6EB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126480" y="3182112"/>
            <a:ext cx="64008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27648" y="31821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046720" y="31821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@react-native-community/netinfo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10744200" y="3300984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744200" y="33009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26480" y="3858768"/>
            <a:ext cx="5532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126480" y="3858768"/>
            <a:ext cx="64008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327648" y="38587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8046720" y="38587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· DynamoDB · API GW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10744200" y="397764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94A6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744200" y="39776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126480" y="4864608"/>
            <a:ext cx="5532120" cy="1353312"/>
          </a:xfrm>
          <a:prstGeom prst="rect">
            <a:avLst/>
          </a:prstGeom>
          <a:solidFill>
            <a:srgbClr val="0B2540"/>
          </a:solidFill>
          <a:ln/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138928"/>
            <a:ext cx="731520" cy="731520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7269480" y="5074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paid licenses</a:t>
            </a:r>
            <a:endParaRPr lang="en-US" sz="1900" dirty="0"/>
          </a:p>
        </p:txBody>
      </p:sp>
      <p:sp>
        <p:nvSpPr>
          <p:cNvPr id="63" name="Text 60"/>
          <p:cNvSpPr/>
          <p:nvPr/>
        </p:nvSpPr>
        <p:spPr>
          <a:xfrm>
            <a:off x="7269480" y="553212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dependency is open-source and source code is shared — fully meeting the open-technologies constraint.</a:t>
            </a:r>
            <a:endParaRPr lang="en-US" sz="1150" dirty="0"/>
          </a:p>
        </p:txBody>
      </p:sp>
      <p:sp>
        <p:nvSpPr>
          <p:cNvPr id="64" name="Text 61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OfflineFaceAuth  ·  Hackathon 7.0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10789920" y="64556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5669280" cy="5669280"/>
          </a:xfrm>
          <a:prstGeom prst="ellipse">
            <a:avLst/>
          </a:prstGeom>
          <a:solidFill>
            <a:srgbClr val="103253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-2194560"/>
            <a:ext cx="5120640" cy="5120640"/>
          </a:xfrm>
          <a:prstGeom prst="ellipse">
            <a:avLst/>
          </a:prstGeom>
          <a:solidFill>
            <a:srgbClr val="103253"/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6400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77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OFFLINEFACEAUTH WINS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1508760"/>
            <a:ext cx="2670048" cy="2697480"/>
          </a:xfrm>
          <a:prstGeom prst="rect">
            <a:avLst/>
          </a:prstGeom>
          <a:solidFill>
            <a:srgbClr val="103253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05840" y="17830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192938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5420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005840" y="2999232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with zero extra model. </a:t>
            </a:r>
            <a:r>
              <a:rPr lang="en-US" sz="120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5.0 </a:t>
            </a: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engine — 10× under the limit.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005840" y="3822192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005840" y="38221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marks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584448" y="1508760"/>
            <a:ext cx="2670048" cy="2697480"/>
          </a:xfrm>
          <a:prstGeom prst="rect">
            <a:avLst/>
          </a:prstGeom>
          <a:solidFill>
            <a:srgbClr val="103253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813048" y="17830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352" y="192938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13048" y="25420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Feasibility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3813048" y="2999232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modules. Sub-200 ms recognition on any mid-range phone.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813048" y="3822192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3813048" y="38221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marks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391656" y="1508760"/>
            <a:ext cx="2670048" cy="2697480"/>
          </a:xfrm>
          <a:prstGeom prst="rect">
            <a:avLst/>
          </a:prstGeom>
          <a:solidFill>
            <a:srgbClr val="103253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620256" y="17830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1929384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20256" y="25420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620256" y="2999232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Retry-until-success sync, automatic purge, serverless infinite scale.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620256" y="3822192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6620256" y="38221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marks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198864" y="1508760"/>
            <a:ext cx="2670048" cy="2697480"/>
          </a:xfrm>
          <a:prstGeom prst="rect">
            <a:avLst/>
          </a:prstGeom>
          <a:solidFill>
            <a:srgbClr val="103253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B25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9427464" y="17830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3768" y="1929384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427464" y="25420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9427464" y="2999232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layered architecture, full technical docs and shared source.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9427464" y="3822192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9427464" y="38221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marks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777240" y="4617720"/>
            <a:ext cx="64008" cy="86868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1005840" y="46177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“Zero internet. Zero compromise. Zero fraud.”</a:t>
            </a:r>
            <a:endParaRPr lang="en-US" sz="3000" dirty="0"/>
          </a:p>
        </p:txBody>
      </p:sp>
      <p:sp>
        <p:nvSpPr>
          <p:cNvPr id="37" name="Shape 30"/>
          <p:cNvSpPr/>
          <p:nvPr/>
        </p:nvSpPr>
        <p:spPr>
          <a:xfrm>
            <a:off x="777240" y="58064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5916168"/>
            <a:ext cx="283464" cy="28346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417320" y="5806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</a:t>
            </a:r>
            <a:r>
              <a:rPr lang="en-US" sz="13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github.com/blueeye-040/face-liveness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7772400" y="5806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94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·  Team OfflineFaceAuth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1554</Words>
  <Application>Microsoft Macintosh PowerPoint</Application>
  <PresentationFormat>Widescreen</PresentationFormat>
  <Paragraphs>349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OfflineFaceAuth — Hackathon 7.0</dc:title>
  <dc:subject>PptxGenJS Presentation</dc:subject>
  <dc:creator>Team OfflineFaceAuth</dc:creator>
  <cp:lastModifiedBy>S0434785</cp:lastModifiedBy>
  <cp:revision>5</cp:revision>
  <dcterms:created xsi:type="dcterms:W3CDTF">2026-06-05T06:15:59Z</dcterms:created>
  <dcterms:modified xsi:type="dcterms:W3CDTF">2026-06-05T06:21:36Z</dcterms:modified>
</cp:coreProperties>
</file>